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0"/>
  </p:notesMasterIdLst>
  <p:sldIdLst>
    <p:sldId id="256" r:id="rId2"/>
    <p:sldId id="714" r:id="rId3"/>
    <p:sldId id="674" r:id="rId4"/>
    <p:sldId id="713" r:id="rId5"/>
    <p:sldId id="712" r:id="rId6"/>
    <p:sldId id="676" r:id="rId7"/>
    <p:sldId id="715" r:id="rId8"/>
    <p:sldId id="717" r:id="rId9"/>
    <p:sldId id="719" r:id="rId10"/>
    <p:sldId id="721" r:id="rId11"/>
    <p:sldId id="723" r:id="rId12"/>
    <p:sldId id="725" r:id="rId13"/>
    <p:sldId id="726" r:id="rId14"/>
    <p:sldId id="727" r:id="rId15"/>
    <p:sldId id="728" r:id="rId16"/>
    <p:sldId id="729" r:id="rId17"/>
    <p:sldId id="730" r:id="rId18"/>
    <p:sldId id="30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82" d="100"/>
          <a:sy n="82" d="100"/>
        </p:scale>
        <p:origin x="610" y="67"/>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01-05-2026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15037911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xmlns=""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xmlns=""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xmlns=""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xmlns=""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xmlns=""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xmlns=""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xmlns=""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xmlns=""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xmlns=""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xmlns=""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xmlns=""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xmlns=""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xmlns=""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1A225F15-9B21-01FF-BD6D-D04F30F7A091}"/>
              </a:ext>
            </a:extLst>
          </p:cNvPr>
          <p:cNvSpPr/>
          <p:nvPr/>
        </p:nvSpPr>
        <p:spPr>
          <a:xfrm>
            <a:off x="27992" y="3021554"/>
            <a:ext cx="12192000" cy="11958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smtClean="0">
                <a:latin typeface="Calibri" panose="020F0502020204030204" pitchFamily="34" charset="0"/>
              </a:rPr>
              <a:t>Employee Retention Prediction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38B360-A630-EE21-210D-844E8504894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xmlns="" id="{67B003C9-103A-47E6-D7EB-87D0A8CB5431}"/>
              </a:ext>
            </a:extLst>
          </p:cNvPr>
          <p:cNvSpPr>
            <a:spLocks noGrp="1"/>
          </p:cNvSpPr>
          <p:nvPr>
            <p:ph idx="1"/>
          </p:nvPr>
        </p:nvSpPr>
        <p:spPr/>
        <p:txBody>
          <a:bodyPr>
            <a:normAutofit/>
          </a:bodyPr>
          <a:lstStyle/>
          <a:p>
            <a:r>
              <a:rPr lang="en-US" sz="2000" dirty="0" smtClean="0"/>
              <a:t>Problem Statement</a:t>
            </a:r>
          </a:p>
          <a:p>
            <a:r>
              <a:rPr lang="en-US" sz="2000" dirty="0" smtClean="0"/>
              <a:t>Dataset Overview</a:t>
            </a:r>
          </a:p>
          <a:p>
            <a:r>
              <a:rPr lang="en-US" sz="2000" dirty="0" smtClean="0"/>
              <a:t>Data Cleaning</a:t>
            </a:r>
          </a:p>
          <a:p>
            <a:r>
              <a:rPr lang="en-US" sz="2000" dirty="0" smtClean="0"/>
              <a:t>Exploratory Data Analysis (EDA)</a:t>
            </a:r>
          </a:p>
          <a:p>
            <a:r>
              <a:rPr lang="en-US" sz="2000" dirty="0" smtClean="0"/>
              <a:t>Model Building </a:t>
            </a:r>
          </a:p>
          <a:p>
            <a:r>
              <a:rPr lang="en-US" sz="2000" dirty="0" smtClean="0"/>
              <a:t>Model Evaluation</a:t>
            </a:r>
          </a:p>
          <a:p>
            <a:r>
              <a:rPr lang="en-US" sz="2000" dirty="0" smtClean="0"/>
              <a:t>Deployment</a:t>
            </a:r>
          </a:p>
          <a:p>
            <a:r>
              <a:rPr lang="en-US" sz="2000" dirty="0" smtClean="0"/>
              <a:t>Conclusion</a:t>
            </a:r>
            <a:endParaRPr lang="en-IN" sz="2000"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E853F5-3FF5-F820-B593-B4F4AF27A2B6}"/>
              </a:ext>
            </a:extLst>
          </p:cNvPr>
          <p:cNvSpPr>
            <a:spLocks noGrp="1"/>
          </p:cNvSpPr>
          <p:nvPr>
            <p:ph type="title"/>
          </p:nvPr>
        </p:nvSpPr>
        <p:spPr/>
        <p:txBody>
          <a:bodyPr/>
          <a:lstStyle/>
          <a:p>
            <a:r>
              <a:rPr lang="en-US" dirty="0"/>
              <a:t>P</a:t>
            </a:r>
            <a:r>
              <a:rPr lang="en-US" dirty="0" smtClean="0"/>
              <a:t>roblem Statement</a:t>
            </a:r>
            <a:endParaRPr lang="en-IN" dirty="0"/>
          </a:p>
        </p:txBody>
      </p:sp>
      <p:sp>
        <p:nvSpPr>
          <p:cNvPr id="3" name="Content Placeholder 2">
            <a:extLst>
              <a:ext uri="{FF2B5EF4-FFF2-40B4-BE49-F238E27FC236}">
                <a16:creationId xmlns:a16="http://schemas.microsoft.com/office/drawing/2014/main" xmlns="" id="{5498D2CD-3F24-F46B-D0FD-F213BDB36EC1}"/>
              </a:ext>
            </a:extLst>
          </p:cNvPr>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smtClean="0"/>
              <a:t>Employee Attrition is a major challenge for </a:t>
            </a:r>
            <a:r>
              <a:rPr lang="en-US" dirty="0" err="1" smtClean="0"/>
              <a:t>oraganizations</a:t>
            </a:r>
            <a:endParaRPr lang="en-US" dirty="0"/>
          </a:p>
          <a:p>
            <a:r>
              <a:rPr lang="en-US" dirty="0" smtClean="0"/>
              <a:t>High Attrition leads to:</a:t>
            </a:r>
            <a:endParaRPr lang="en-US" dirty="0"/>
          </a:p>
          <a:p>
            <a:pPr lvl="1"/>
            <a:r>
              <a:rPr lang="en-US" dirty="0" smtClean="0"/>
              <a:t>Increased </a:t>
            </a:r>
            <a:r>
              <a:rPr lang="en-US" dirty="0"/>
              <a:t>h</a:t>
            </a:r>
            <a:r>
              <a:rPr lang="en-US" dirty="0" smtClean="0"/>
              <a:t>iring cost</a:t>
            </a:r>
            <a:endParaRPr lang="en-US" dirty="0"/>
          </a:p>
          <a:p>
            <a:pPr lvl="1"/>
            <a:r>
              <a:rPr lang="en-US" dirty="0" smtClean="0"/>
              <a:t>Loss of talent</a:t>
            </a:r>
          </a:p>
          <a:p>
            <a:r>
              <a:rPr lang="en-US" dirty="0" smtClean="0"/>
              <a:t>Objective:</a:t>
            </a:r>
          </a:p>
          <a:p>
            <a:r>
              <a:rPr lang="en-US" dirty="0" smtClean="0"/>
              <a:t>Predict whether an employee will stay or leave.</a:t>
            </a:r>
          </a:p>
          <a:p>
            <a:pPr marL="0" indent="0">
              <a:buNone/>
            </a:pPr>
            <a:endParaRPr lang="en-US" dirty="0"/>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F69DB3DB-2D6A-4800-21E5-71369CC117F1}"/>
              </a:ext>
            </a:extLst>
          </p:cNvPr>
          <p:cNvSpPr>
            <a:spLocks noGrp="1"/>
          </p:cNvSpPr>
          <p:nvPr>
            <p:ph type="title"/>
          </p:nvPr>
        </p:nvSpPr>
        <p:spPr>
          <a:xfrm>
            <a:off x="419879" y="603665"/>
            <a:ext cx="5366242" cy="1337101"/>
          </a:xfrm>
        </p:spPr>
        <p:txBody>
          <a:bodyPr/>
          <a:lstStyle/>
          <a:p>
            <a:r>
              <a:rPr lang="en-US" dirty="0" smtClean="0"/>
              <a:t>Objective</a:t>
            </a:r>
            <a:endParaRPr lang="en-IN" dirty="0"/>
          </a:p>
        </p:txBody>
      </p:sp>
      <p:sp>
        <p:nvSpPr>
          <p:cNvPr id="5" name="Content Placeholder 4">
            <a:extLst>
              <a:ext uri="{FF2B5EF4-FFF2-40B4-BE49-F238E27FC236}">
                <a16:creationId xmlns:a16="http://schemas.microsoft.com/office/drawing/2014/main" xmlns="" id="{911E276C-DF85-3591-E888-F5B1B9B1522C}"/>
              </a:ext>
            </a:extLst>
          </p:cNvPr>
          <p:cNvSpPr>
            <a:spLocks noGrp="1"/>
          </p:cNvSpPr>
          <p:nvPr>
            <p:ph idx="1"/>
          </p:nvPr>
        </p:nvSpPr>
        <p:spPr>
          <a:xfrm>
            <a:off x="326571" y="1940766"/>
            <a:ext cx="5459549" cy="4117135"/>
          </a:xfrm>
        </p:spPr>
        <p:txBody>
          <a:bodyPr/>
          <a:lstStyle/>
          <a:p>
            <a:r>
              <a:rPr lang="en-US" dirty="0" smtClean="0"/>
              <a:t>Build a machine learning Model</a:t>
            </a:r>
          </a:p>
          <a:p>
            <a:r>
              <a:rPr lang="en-US" dirty="0" smtClean="0"/>
              <a:t>Identify key factors affecting retention</a:t>
            </a:r>
          </a:p>
          <a:p>
            <a:r>
              <a:rPr lang="en-US" dirty="0" smtClean="0"/>
              <a:t>Deploy model using </a:t>
            </a:r>
            <a:r>
              <a:rPr lang="en-US" dirty="0" err="1" smtClean="0"/>
              <a:t>Streamlit</a:t>
            </a:r>
            <a:endParaRPr lang="en-IN" dirty="0"/>
          </a:p>
        </p:txBody>
      </p: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96A923FD-EE06-48F2-482E-88F38D200251}"/>
              </a:ext>
            </a:extLst>
          </p:cNvPr>
          <p:cNvSpPr>
            <a:spLocks noGrp="1"/>
          </p:cNvSpPr>
          <p:nvPr>
            <p:ph type="title"/>
          </p:nvPr>
        </p:nvSpPr>
        <p:spPr/>
        <p:txBody>
          <a:bodyPr>
            <a:normAutofit fontScale="90000"/>
          </a:bodyPr>
          <a:lstStyle/>
          <a:p>
            <a:r>
              <a:rPr lang="en-US" dirty="0" err="1" smtClean="0"/>
              <a:t>DataSet</a:t>
            </a:r>
            <a:r>
              <a:rPr lang="en-US" dirty="0" smtClean="0"/>
              <a:t> Overview</a:t>
            </a:r>
            <a:br>
              <a:rPr lang="en-US" dirty="0" smtClean="0"/>
            </a:br>
            <a:endParaRPr lang="en-IN" dirty="0"/>
          </a:p>
        </p:txBody>
      </p:sp>
      <p:sp>
        <p:nvSpPr>
          <p:cNvPr id="5" name="Content Placeholder 4">
            <a:extLst>
              <a:ext uri="{FF2B5EF4-FFF2-40B4-BE49-F238E27FC236}">
                <a16:creationId xmlns:a16="http://schemas.microsoft.com/office/drawing/2014/main" xmlns="" id="{8C74B58E-E923-F7F3-8627-D12DF58EC0C5}"/>
              </a:ext>
            </a:extLst>
          </p:cNvPr>
          <p:cNvSpPr>
            <a:spLocks noGrp="1"/>
          </p:cNvSpPr>
          <p:nvPr>
            <p:ph idx="1"/>
          </p:nvPr>
        </p:nvSpPr>
        <p:spPr/>
        <p:txBody>
          <a:bodyPr/>
          <a:lstStyle/>
          <a:p>
            <a:r>
              <a:rPr lang="en-US" dirty="0" smtClean="0"/>
              <a:t>Source: ERP Data (ERP 1 &amp; ERP 01)</a:t>
            </a:r>
          </a:p>
          <a:p>
            <a:r>
              <a:rPr lang="en-US" dirty="0" smtClean="0"/>
              <a:t>Target Variable:</a:t>
            </a:r>
          </a:p>
          <a:p>
            <a:pPr lvl="1"/>
            <a:r>
              <a:rPr lang="en-US" dirty="0" smtClean="0"/>
              <a:t>0 - Stay</a:t>
            </a:r>
          </a:p>
          <a:p>
            <a:pPr lvl="1"/>
            <a:r>
              <a:rPr lang="en-US" dirty="0" smtClean="0"/>
              <a:t>1 – Leave</a:t>
            </a:r>
          </a:p>
          <a:p>
            <a:r>
              <a:rPr lang="en-US" dirty="0" smtClean="0"/>
              <a:t>Key Features:</a:t>
            </a:r>
          </a:p>
          <a:p>
            <a:pPr lvl="1"/>
            <a:r>
              <a:rPr lang="en-US" dirty="0" smtClean="0"/>
              <a:t>City Development Index</a:t>
            </a:r>
          </a:p>
          <a:p>
            <a:pPr lvl="1"/>
            <a:r>
              <a:rPr lang="en-US" dirty="0" smtClean="0"/>
              <a:t>Training Hours</a:t>
            </a:r>
          </a:p>
          <a:p>
            <a:pPr lvl="1"/>
            <a:r>
              <a:rPr lang="en-US" dirty="0" smtClean="0"/>
              <a:t>Experience</a:t>
            </a:r>
          </a:p>
          <a:p>
            <a:pPr lvl="1"/>
            <a:r>
              <a:rPr lang="en-US" dirty="0" smtClean="0"/>
              <a:t>Last Job Gap</a:t>
            </a:r>
          </a:p>
          <a:p>
            <a:pPr marL="457200" lvl="1" indent="0">
              <a:buNone/>
            </a:pPr>
            <a:endParaRPr lang="en-IN" dirty="0"/>
          </a:p>
        </p:txBody>
      </p:sp>
    </p:spTree>
    <p:extLst>
      <p:ext uri="{BB962C8B-B14F-4D97-AF65-F5344CB8AC3E}">
        <p14:creationId xmlns:p14="http://schemas.microsoft.com/office/powerpoint/2010/main" val="159436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5BA2E58-FEC9-D54D-ACC0-E7CEEF5F42E4}"/>
              </a:ext>
            </a:extLst>
          </p:cNvPr>
          <p:cNvSpPr>
            <a:spLocks noGrp="1"/>
          </p:cNvSpPr>
          <p:nvPr>
            <p:ph type="title"/>
          </p:nvPr>
        </p:nvSpPr>
        <p:spPr/>
        <p:txBody>
          <a:bodyPr>
            <a:normAutofit/>
          </a:bodyPr>
          <a:lstStyle/>
          <a:p>
            <a:r>
              <a:rPr lang="en-US" dirty="0" smtClean="0"/>
              <a:t>Data Cleaning</a:t>
            </a:r>
            <a:endParaRPr lang="en-US" dirty="0"/>
          </a:p>
        </p:txBody>
      </p:sp>
      <p:sp>
        <p:nvSpPr>
          <p:cNvPr id="2" name="Content Placeholder 1">
            <a:extLst>
              <a:ext uri="{FF2B5EF4-FFF2-40B4-BE49-F238E27FC236}">
                <a16:creationId xmlns:a16="http://schemas.microsoft.com/office/drawing/2014/main" xmlns="" id="{C9565BAE-48A9-8300-4E79-87D77968413B}"/>
              </a:ext>
            </a:extLst>
          </p:cNvPr>
          <p:cNvSpPr>
            <a:spLocks noGrp="1"/>
          </p:cNvSpPr>
          <p:nvPr>
            <p:ph idx="1"/>
          </p:nvPr>
        </p:nvSpPr>
        <p:spPr/>
        <p:txBody>
          <a:bodyPr lIns="0" tIns="0" rIns="0" bIns="0" numCol="2">
            <a:normAutofit/>
          </a:bodyPr>
          <a:lstStyle/>
          <a:p>
            <a:pPr marL="457200" indent="-457200">
              <a:buAutoNum type="arabicPeriod"/>
            </a:pPr>
            <a:r>
              <a:rPr lang="en-US" sz="2200" b="1" dirty="0" smtClean="0">
                <a:solidFill>
                  <a:schemeClr val="tx1"/>
                </a:solidFill>
              </a:rPr>
              <a:t>Removed null values</a:t>
            </a:r>
          </a:p>
          <a:p>
            <a:pPr marL="457200" indent="-457200">
              <a:buAutoNum type="arabicPeriod"/>
            </a:pPr>
            <a:r>
              <a:rPr lang="en-US" sz="2200" b="1" dirty="0" smtClean="0">
                <a:solidFill>
                  <a:schemeClr val="tx1"/>
                </a:solidFill>
              </a:rPr>
              <a:t>Fixed data types</a:t>
            </a:r>
          </a:p>
          <a:p>
            <a:pPr marL="457200" indent="-457200">
              <a:buAutoNum type="arabicPeriod"/>
            </a:pPr>
            <a:r>
              <a:rPr lang="en-US" sz="2200" b="1" dirty="0" smtClean="0">
                <a:solidFill>
                  <a:schemeClr val="tx1"/>
                </a:solidFill>
              </a:rPr>
              <a:t>Removed unwanted columns(IDs, Duplicates)</a:t>
            </a:r>
          </a:p>
          <a:p>
            <a:pPr marL="457200" indent="-457200">
              <a:buAutoNum type="arabicPeriod"/>
            </a:pPr>
            <a:r>
              <a:rPr lang="en-US" sz="2200" b="1" dirty="0" smtClean="0">
                <a:solidFill>
                  <a:schemeClr val="tx1"/>
                </a:solidFill>
              </a:rPr>
              <a:t>Combined ERP datasets</a:t>
            </a:r>
          </a:p>
          <a:p>
            <a:pPr marL="457200" indent="-457200">
              <a:buAutoNum type="arabicPeriod"/>
            </a:pPr>
            <a:r>
              <a:rPr lang="en-US" sz="2200" b="1" dirty="0" smtClean="0">
                <a:solidFill>
                  <a:schemeClr val="tx1"/>
                </a:solidFill>
              </a:rPr>
              <a:t>Handled missing values</a:t>
            </a:r>
          </a:p>
          <a:p>
            <a:pPr marL="457200" indent="-457200">
              <a:buAutoNum type="arabicPeriod"/>
            </a:pPr>
            <a:endParaRPr lang="en-IN" sz="2200" dirty="0"/>
          </a:p>
        </p:txBody>
      </p:sp>
    </p:spTree>
    <p:extLst>
      <p:ext uri="{BB962C8B-B14F-4D97-AF65-F5344CB8AC3E}">
        <p14:creationId xmlns:p14="http://schemas.microsoft.com/office/powerpoint/2010/main" val="284599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Feature Engineering</a:t>
            </a:r>
            <a:endParaRPr lang="en-IN" dirty="0"/>
          </a:p>
        </p:txBody>
      </p:sp>
      <p:sp>
        <p:nvSpPr>
          <p:cNvPr id="3" name="Content Placeholder 2"/>
          <p:cNvSpPr>
            <a:spLocks noGrp="1"/>
          </p:cNvSpPr>
          <p:nvPr>
            <p:ph idx="1"/>
          </p:nvPr>
        </p:nvSpPr>
        <p:spPr/>
        <p:txBody>
          <a:bodyPr/>
          <a:lstStyle/>
          <a:p>
            <a:r>
              <a:rPr lang="en-US" dirty="0" smtClean="0"/>
              <a:t>Selected important features</a:t>
            </a:r>
          </a:p>
          <a:p>
            <a:r>
              <a:rPr lang="en-US" dirty="0" smtClean="0"/>
              <a:t>Encoded categorical variables</a:t>
            </a:r>
          </a:p>
          <a:p>
            <a:r>
              <a:rPr lang="en-US" dirty="0" smtClean="0"/>
              <a:t>Scaled numerical features</a:t>
            </a:r>
          </a:p>
          <a:p>
            <a:r>
              <a:rPr lang="en-US" dirty="0" smtClean="0"/>
              <a:t>Balanced dataset using SMOTE</a:t>
            </a:r>
          </a:p>
          <a:p>
            <a:pPr marL="0" indent="0">
              <a:buNone/>
            </a:pPr>
            <a:endParaRPr lang="en-IN" dirty="0"/>
          </a:p>
        </p:txBody>
      </p:sp>
    </p:spTree>
    <p:extLst>
      <p:ext uri="{BB962C8B-B14F-4D97-AF65-F5344CB8AC3E}">
        <p14:creationId xmlns:p14="http://schemas.microsoft.com/office/powerpoint/2010/main" val="2284756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E853F5-3FF5-F820-B593-B4F4AF27A2B6}"/>
              </a:ext>
            </a:extLst>
          </p:cNvPr>
          <p:cNvSpPr>
            <a:spLocks noGrp="1"/>
          </p:cNvSpPr>
          <p:nvPr>
            <p:ph type="title"/>
          </p:nvPr>
        </p:nvSpPr>
        <p:spPr>
          <a:xfrm>
            <a:off x="177282" y="65312"/>
            <a:ext cx="11419811" cy="970387"/>
          </a:xfrm>
        </p:spPr>
        <p:txBody>
          <a:bodyPr/>
          <a:lstStyle/>
          <a:p>
            <a:r>
              <a:rPr lang="en-US" dirty="0" smtClean="0"/>
              <a:t>EDA – Distribution of Training Hours</a:t>
            </a:r>
            <a:endParaRPr lang="en-IN" dirty="0"/>
          </a:p>
        </p:txBody>
      </p:sp>
      <p:sp>
        <p:nvSpPr>
          <p:cNvPr id="3" name="Content Placeholder 2">
            <a:extLst>
              <a:ext uri="{FF2B5EF4-FFF2-40B4-BE49-F238E27FC236}">
                <a16:creationId xmlns:a16="http://schemas.microsoft.com/office/drawing/2014/main" xmlns="" id="{5498D2CD-3F24-F46B-D0FD-F213BDB36EC1}"/>
              </a:ext>
            </a:extLst>
          </p:cNvPr>
          <p:cNvSpPr>
            <a:spLocks noGrp="1"/>
          </p:cNvSpPr>
          <p:nvPr>
            <p:ph idx="1"/>
          </p:nvPr>
        </p:nvSpPr>
        <p:spPr>
          <a:xfrm>
            <a:off x="93306" y="1017038"/>
            <a:ext cx="11989836" cy="5775648"/>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smtClean="0"/>
              <a:t>Distribution (Histogram)</a:t>
            </a:r>
            <a:endParaRPr lang="en-US" dirty="0"/>
          </a:p>
          <a:p>
            <a:r>
              <a:rPr lang="en-US" dirty="0" smtClean="0"/>
              <a:t>Explanation:</a:t>
            </a:r>
            <a:endParaRPr lang="en-US" dirty="0"/>
          </a:p>
          <a:p>
            <a:pPr lvl="1"/>
            <a:r>
              <a:rPr lang="en-US" dirty="0" smtClean="0"/>
              <a:t>Most employees have low training hours</a:t>
            </a:r>
            <a:endParaRPr lang="en-US" dirty="0"/>
          </a:p>
          <a:p>
            <a:pPr lvl="1"/>
            <a:r>
              <a:rPr lang="en-US" dirty="0" smtClean="0"/>
              <a:t>Low training – Higher chance of leaving</a:t>
            </a:r>
          </a:p>
          <a:p>
            <a:pPr lvl="1"/>
            <a:r>
              <a:rPr lang="en-US" dirty="0" smtClean="0"/>
              <a:t>Very few employees high training hours, indicating</a:t>
            </a:r>
          </a:p>
          <a:p>
            <a:pPr lvl="1"/>
            <a:r>
              <a:rPr lang="en-US" dirty="0" smtClean="0"/>
              <a:t>Limited skill development</a:t>
            </a:r>
          </a:p>
          <a:p>
            <a:pPr lvl="1"/>
            <a:r>
              <a:rPr lang="en-US" dirty="0" smtClean="0"/>
              <a:t>Training distribution is skewed towards the lower</a:t>
            </a:r>
          </a:p>
          <a:p>
            <a:pPr lvl="1"/>
            <a:r>
              <a:rPr lang="en-US" dirty="0" smtClean="0"/>
              <a:t>Side, suggesting a gap in lower opportunities.</a:t>
            </a:r>
          </a:p>
          <a:p>
            <a:pPr marL="0" indent="0">
              <a:buNone/>
            </a:pPr>
            <a:endParaRPr lang="en-US" dirty="0" smtClean="0"/>
          </a:p>
          <a:p>
            <a:pPr marL="0" indent="0">
              <a:buNone/>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0963" y="1520889"/>
            <a:ext cx="4832179" cy="4170781"/>
          </a:xfrm>
          <a:prstGeom prst="rect">
            <a:avLst/>
          </a:prstGeom>
        </p:spPr>
      </p:pic>
    </p:spTree>
    <p:extLst>
      <p:ext uri="{BB962C8B-B14F-4D97-AF65-F5344CB8AC3E}">
        <p14:creationId xmlns:p14="http://schemas.microsoft.com/office/powerpoint/2010/main" val="2596736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E853F5-3FF5-F820-B593-B4F4AF27A2B6}"/>
              </a:ext>
            </a:extLst>
          </p:cNvPr>
          <p:cNvSpPr>
            <a:spLocks noGrp="1"/>
          </p:cNvSpPr>
          <p:nvPr>
            <p:ph type="title"/>
          </p:nvPr>
        </p:nvSpPr>
        <p:spPr>
          <a:xfrm>
            <a:off x="137708" y="109144"/>
            <a:ext cx="10834234" cy="612775"/>
          </a:xfrm>
        </p:spPr>
        <p:txBody>
          <a:bodyPr/>
          <a:lstStyle/>
          <a:p>
            <a:r>
              <a:rPr lang="en-US" dirty="0" smtClean="0"/>
              <a:t>EDA - Training </a:t>
            </a:r>
            <a:r>
              <a:rPr lang="en-US" dirty="0" err="1" smtClean="0"/>
              <a:t>vs</a:t>
            </a:r>
            <a:r>
              <a:rPr lang="en-US" dirty="0"/>
              <a:t> </a:t>
            </a:r>
            <a:r>
              <a:rPr lang="en-US" dirty="0" smtClean="0"/>
              <a:t>Target</a:t>
            </a:r>
            <a:endParaRPr lang="en-IN" dirty="0"/>
          </a:p>
        </p:txBody>
      </p:sp>
      <p:sp>
        <p:nvSpPr>
          <p:cNvPr id="3" name="Content Placeholder 2">
            <a:extLst>
              <a:ext uri="{FF2B5EF4-FFF2-40B4-BE49-F238E27FC236}">
                <a16:creationId xmlns:a16="http://schemas.microsoft.com/office/drawing/2014/main" xmlns="" id="{5498D2CD-3F24-F46B-D0FD-F213BDB36EC1}"/>
              </a:ext>
            </a:extLst>
          </p:cNvPr>
          <p:cNvSpPr>
            <a:spLocks noGrp="1"/>
          </p:cNvSpPr>
          <p:nvPr>
            <p:ph idx="1"/>
          </p:nvPr>
        </p:nvSpPr>
        <p:spPr>
          <a:xfrm>
            <a:off x="137707" y="721918"/>
            <a:ext cx="11973427" cy="5314987"/>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smtClean="0"/>
              <a:t>EDA (BOX PLOT)</a:t>
            </a:r>
            <a:endParaRPr lang="en-US" dirty="0"/>
          </a:p>
          <a:p>
            <a:r>
              <a:rPr lang="en-US" dirty="0" smtClean="0"/>
              <a:t>Explanation:</a:t>
            </a:r>
            <a:endParaRPr lang="en-US" dirty="0"/>
          </a:p>
          <a:p>
            <a:pPr lvl="1"/>
            <a:r>
              <a:rPr lang="en-US" dirty="0" smtClean="0"/>
              <a:t>Employees with low experience leave more</a:t>
            </a:r>
          </a:p>
          <a:p>
            <a:pPr lvl="1"/>
            <a:r>
              <a:rPr lang="en-US" dirty="0" smtClean="0"/>
              <a:t>High experience employee are more stable</a:t>
            </a:r>
          </a:p>
          <a:p>
            <a:pPr lvl="1"/>
            <a:r>
              <a:rPr lang="en-US" dirty="0" smtClean="0"/>
              <a:t>Early - career employees are more likely to switch jobs</a:t>
            </a:r>
          </a:p>
          <a:p>
            <a:pPr lvl="1"/>
            <a:r>
              <a:rPr lang="en-US" dirty="0" smtClean="0"/>
              <a:t>Attrition rate decreases as experience increases</a:t>
            </a:r>
          </a:p>
          <a:p>
            <a:pPr lvl="1"/>
            <a:r>
              <a:rPr lang="en-US" dirty="0" smtClean="0"/>
              <a:t>This indicates that remaining early-stage employees</a:t>
            </a:r>
          </a:p>
          <a:p>
            <a:pPr lvl="1"/>
            <a:r>
              <a:rPr lang="en-US" dirty="0" smtClean="0"/>
              <a:t>Is critical for reducing overall attrition.</a:t>
            </a:r>
            <a:endParaRPr lang="en-US" dirty="0"/>
          </a:p>
          <a:p>
            <a:pPr marL="457200" lvl="1" indent="0">
              <a:buNone/>
            </a:pPr>
            <a:endParaRPr lang="en-US" dirty="0" smtClean="0"/>
          </a:p>
          <a:p>
            <a:pPr marL="0" indent="0">
              <a:buNone/>
            </a:pPr>
            <a:endParaRPr lang="en-US" dirty="0" smtClean="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3110" y="787231"/>
            <a:ext cx="4488024" cy="4376177"/>
          </a:xfrm>
          <a:prstGeom prst="rect">
            <a:avLst/>
          </a:prstGeom>
        </p:spPr>
      </p:pic>
    </p:spTree>
    <p:extLst>
      <p:ext uri="{BB962C8B-B14F-4D97-AF65-F5344CB8AC3E}">
        <p14:creationId xmlns:p14="http://schemas.microsoft.com/office/powerpoint/2010/main" val="2048184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E853F5-3FF5-F820-B593-B4F4AF27A2B6}"/>
              </a:ext>
            </a:extLst>
          </p:cNvPr>
          <p:cNvSpPr>
            <a:spLocks noGrp="1"/>
          </p:cNvSpPr>
          <p:nvPr>
            <p:ph type="title"/>
          </p:nvPr>
        </p:nvSpPr>
        <p:spPr>
          <a:xfrm>
            <a:off x="149291" y="0"/>
            <a:ext cx="11326506" cy="787233"/>
          </a:xfrm>
        </p:spPr>
        <p:txBody>
          <a:bodyPr/>
          <a:lstStyle/>
          <a:p>
            <a:r>
              <a:rPr lang="en-US" dirty="0" smtClean="0"/>
              <a:t>EDA - Correlation Analysis</a:t>
            </a:r>
            <a:endParaRPr lang="en-IN" dirty="0"/>
          </a:p>
        </p:txBody>
      </p:sp>
      <p:sp>
        <p:nvSpPr>
          <p:cNvPr id="3" name="Content Placeholder 2">
            <a:extLst>
              <a:ext uri="{FF2B5EF4-FFF2-40B4-BE49-F238E27FC236}">
                <a16:creationId xmlns:a16="http://schemas.microsoft.com/office/drawing/2014/main" xmlns="" id="{5498D2CD-3F24-F46B-D0FD-F213BDB36EC1}"/>
              </a:ext>
            </a:extLst>
          </p:cNvPr>
          <p:cNvSpPr>
            <a:spLocks noGrp="1"/>
          </p:cNvSpPr>
          <p:nvPr>
            <p:ph idx="1"/>
          </p:nvPr>
        </p:nvSpPr>
        <p:spPr>
          <a:xfrm>
            <a:off x="69153" y="867748"/>
            <a:ext cx="12008496" cy="5085183"/>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smtClean="0"/>
              <a:t>EDA - HEATMAP</a:t>
            </a:r>
            <a:endParaRPr lang="en-US" dirty="0"/>
          </a:p>
          <a:p>
            <a:r>
              <a:rPr lang="en-US" dirty="0" smtClean="0"/>
              <a:t>Explanation:</a:t>
            </a:r>
            <a:endParaRPr lang="en-US" dirty="0"/>
          </a:p>
          <a:p>
            <a:pPr lvl="1"/>
            <a:r>
              <a:rPr lang="en-US" dirty="0" smtClean="0"/>
              <a:t>Training hours </a:t>
            </a:r>
            <a:r>
              <a:rPr lang="en-US" dirty="0" err="1" smtClean="0"/>
              <a:t>negstively</a:t>
            </a:r>
            <a:r>
              <a:rPr lang="en-US" dirty="0" smtClean="0"/>
              <a:t> correlated with attrition</a:t>
            </a:r>
          </a:p>
          <a:p>
            <a:pPr lvl="1"/>
            <a:r>
              <a:rPr lang="en-US" dirty="0" smtClean="0"/>
              <a:t>Experience reduces attrition risk</a:t>
            </a:r>
            <a:endParaRPr lang="en-US" dirty="0"/>
          </a:p>
          <a:p>
            <a:pPr lvl="1"/>
            <a:r>
              <a:rPr lang="en-US" dirty="0" smtClean="0"/>
              <a:t>Key features like training hours and experience play</a:t>
            </a:r>
          </a:p>
          <a:p>
            <a:pPr lvl="1"/>
            <a:r>
              <a:rPr lang="en-US" dirty="0" smtClean="0"/>
              <a:t>A significant role in predicting employee retention</a:t>
            </a:r>
          </a:p>
          <a:p>
            <a:pPr lvl="1"/>
            <a:r>
              <a:rPr lang="en-US" dirty="0" smtClean="0"/>
              <a:t>Improving training programs and retaining experienced</a:t>
            </a:r>
          </a:p>
          <a:p>
            <a:pPr lvl="1"/>
            <a:r>
              <a:rPr lang="en-US" dirty="0" smtClean="0"/>
              <a:t>Employees can significantly reduce attrition rates.</a:t>
            </a:r>
          </a:p>
          <a:p>
            <a:pPr marL="0" indent="0">
              <a:buNone/>
            </a:pPr>
            <a:endParaRPr lang="en-US" dirty="0" smtClean="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8424" y="867748"/>
            <a:ext cx="4389225" cy="4655974"/>
          </a:xfrm>
          <a:prstGeom prst="rect">
            <a:avLst/>
          </a:prstGeom>
        </p:spPr>
      </p:pic>
    </p:spTree>
    <p:extLst>
      <p:ext uri="{BB962C8B-B14F-4D97-AF65-F5344CB8AC3E}">
        <p14:creationId xmlns:p14="http://schemas.microsoft.com/office/powerpoint/2010/main" val="2010186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E853F5-3FF5-F820-B593-B4F4AF27A2B6}"/>
              </a:ext>
            </a:extLst>
          </p:cNvPr>
          <p:cNvSpPr>
            <a:spLocks noGrp="1"/>
          </p:cNvSpPr>
          <p:nvPr>
            <p:ph type="title"/>
          </p:nvPr>
        </p:nvSpPr>
        <p:spPr>
          <a:xfrm>
            <a:off x="83976" y="74645"/>
            <a:ext cx="11391820" cy="1017037"/>
          </a:xfrm>
        </p:spPr>
        <p:txBody>
          <a:bodyPr/>
          <a:lstStyle/>
          <a:p>
            <a:r>
              <a:rPr lang="en-US" dirty="0" smtClean="0"/>
              <a:t>EDA - City Development </a:t>
            </a:r>
            <a:r>
              <a:rPr lang="en-US" dirty="0" err="1" smtClean="0"/>
              <a:t>vs</a:t>
            </a:r>
            <a:r>
              <a:rPr lang="en-US" dirty="0" smtClean="0"/>
              <a:t> Training  </a:t>
            </a:r>
            <a:endParaRPr lang="en-IN" dirty="0"/>
          </a:p>
        </p:txBody>
      </p:sp>
      <p:sp>
        <p:nvSpPr>
          <p:cNvPr id="3" name="Content Placeholder 2">
            <a:extLst>
              <a:ext uri="{FF2B5EF4-FFF2-40B4-BE49-F238E27FC236}">
                <a16:creationId xmlns:a16="http://schemas.microsoft.com/office/drawing/2014/main" xmlns="" id="{5498D2CD-3F24-F46B-D0FD-F213BDB36EC1}"/>
              </a:ext>
            </a:extLst>
          </p:cNvPr>
          <p:cNvSpPr>
            <a:spLocks noGrp="1"/>
          </p:cNvSpPr>
          <p:nvPr>
            <p:ph idx="1"/>
          </p:nvPr>
        </p:nvSpPr>
        <p:spPr>
          <a:xfrm>
            <a:off x="46654" y="1194318"/>
            <a:ext cx="12055150" cy="4786604"/>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smtClean="0"/>
              <a:t>EDA – SCATTER PLOT</a:t>
            </a:r>
            <a:endParaRPr lang="en-US" dirty="0"/>
          </a:p>
          <a:p>
            <a:r>
              <a:rPr lang="en-US" dirty="0" smtClean="0"/>
              <a:t>Explanation:</a:t>
            </a:r>
            <a:endParaRPr lang="en-US" dirty="0"/>
          </a:p>
          <a:p>
            <a:pPr lvl="1"/>
            <a:r>
              <a:rPr lang="en-US" dirty="0" smtClean="0"/>
              <a:t>Employees in low development areas tend to leave more</a:t>
            </a:r>
          </a:p>
          <a:p>
            <a:pPr lvl="1"/>
            <a:r>
              <a:rPr lang="en-US" dirty="0" smtClean="0"/>
              <a:t>High development index better retention</a:t>
            </a:r>
          </a:p>
          <a:p>
            <a:pPr lvl="1"/>
            <a:r>
              <a:rPr lang="en-US" dirty="0" smtClean="0"/>
              <a:t>Limited access to resources and learning environments</a:t>
            </a:r>
          </a:p>
          <a:p>
            <a:pPr lvl="1"/>
            <a:r>
              <a:rPr lang="en-US" dirty="0" smtClean="0"/>
              <a:t>May contribute to higher attrition in these regions</a:t>
            </a:r>
          </a:p>
          <a:p>
            <a:pPr lvl="1"/>
            <a:r>
              <a:rPr lang="en-US" dirty="0" smtClean="0"/>
              <a:t>Enhancing training programs in less developed areas</a:t>
            </a:r>
          </a:p>
          <a:p>
            <a:pPr lvl="1"/>
            <a:r>
              <a:rPr lang="en-US" dirty="0" smtClean="0"/>
              <a:t>Can help reduce attrition</a:t>
            </a:r>
          </a:p>
          <a:p>
            <a:pPr lvl="1"/>
            <a:r>
              <a:rPr lang="en-US" dirty="0" smtClean="0"/>
              <a:t>And improve employee retention</a:t>
            </a:r>
            <a:endParaRPr lang="en-US" dirty="0"/>
          </a:p>
          <a:p>
            <a:pPr lvl="1"/>
            <a:endParaRPr lang="en-US" dirty="0" smtClean="0"/>
          </a:p>
          <a:p>
            <a:pPr marL="0" indent="0">
              <a:buNone/>
            </a:pP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7045" y="1268963"/>
            <a:ext cx="4254759" cy="4229467"/>
          </a:xfrm>
          <a:prstGeom prst="rect">
            <a:avLst/>
          </a:prstGeom>
        </p:spPr>
      </p:pic>
    </p:spTree>
    <p:extLst>
      <p:ext uri="{BB962C8B-B14F-4D97-AF65-F5344CB8AC3E}">
        <p14:creationId xmlns:p14="http://schemas.microsoft.com/office/powerpoint/2010/main" val="3881196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Model Building</a:t>
            </a:r>
            <a:endParaRPr lang="en-IN" dirty="0"/>
          </a:p>
        </p:txBody>
      </p:sp>
      <p:sp>
        <p:nvSpPr>
          <p:cNvPr id="3" name="Content Placeholder 2"/>
          <p:cNvSpPr>
            <a:spLocks noGrp="1"/>
          </p:cNvSpPr>
          <p:nvPr>
            <p:ph idx="1"/>
          </p:nvPr>
        </p:nvSpPr>
        <p:spPr/>
        <p:txBody>
          <a:bodyPr/>
          <a:lstStyle/>
          <a:p>
            <a:r>
              <a:rPr lang="en-US" dirty="0" smtClean="0"/>
              <a:t>Models used:</a:t>
            </a:r>
          </a:p>
          <a:p>
            <a:pPr lvl="2"/>
            <a:r>
              <a:rPr lang="en-US" dirty="0" smtClean="0"/>
              <a:t>Logistic Regression</a:t>
            </a:r>
          </a:p>
          <a:p>
            <a:pPr lvl="2"/>
            <a:r>
              <a:rPr lang="en-US" dirty="0" smtClean="0"/>
              <a:t>Random Forest</a:t>
            </a:r>
          </a:p>
          <a:p>
            <a:pPr lvl="2"/>
            <a:r>
              <a:rPr lang="en-US" dirty="0" err="1" smtClean="0"/>
              <a:t>XGBoost</a:t>
            </a:r>
            <a:endParaRPr lang="en-US" dirty="0" smtClean="0"/>
          </a:p>
          <a:p>
            <a:pPr lvl="2"/>
            <a:r>
              <a:rPr lang="en-US" dirty="0" err="1" smtClean="0"/>
              <a:t>LightGBM</a:t>
            </a:r>
            <a:endParaRPr lang="en-IN" dirty="0"/>
          </a:p>
        </p:txBody>
      </p:sp>
    </p:spTree>
    <p:extLst>
      <p:ext uri="{BB962C8B-B14F-4D97-AF65-F5344CB8AC3E}">
        <p14:creationId xmlns:p14="http://schemas.microsoft.com/office/powerpoint/2010/main" val="705783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Model Evaluation</a:t>
            </a:r>
            <a:endParaRPr lang="en-IN" dirty="0"/>
          </a:p>
        </p:txBody>
      </p:sp>
      <p:pic>
        <p:nvPicPr>
          <p:cNvPr id="4" name="Content Placeholder 3"/>
          <p:cNvPicPr>
            <a:picLocks noGrp="1" noChangeAspect="1"/>
          </p:cNvPicPr>
          <p:nvPr>
            <p:ph idx="1"/>
          </p:nvPr>
        </p:nvPicPr>
        <p:blipFill>
          <a:blip r:embed="rId2"/>
          <a:stretch>
            <a:fillRect/>
          </a:stretch>
        </p:blipFill>
        <p:spPr>
          <a:xfrm>
            <a:off x="214604" y="1598002"/>
            <a:ext cx="6147555" cy="3748439"/>
          </a:xfrm>
          <a:prstGeom prst="rect">
            <a:avLst/>
          </a:prstGeom>
        </p:spPr>
      </p:pic>
    </p:spTree>
    <p:extLst>
      <p:ext uri="{BB962C8B-B14F-4D97-AF65-F5344CB8AC3E}">
        <p14:creationId xmlns:p14="http://schemas.microsoft.com/office/powerpoint/2010/main" val="1931872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Final Model</a:t>
            </a:r>
            <a:endParaRPr lang="en-IN" dirty="0"/>
          </a:p>
        </p:txBody>
      </p:sp>
      <p:sp>
        <p:nvSpPr>
          <p:cNvPr id="3" name="Content Placeholder 2"/>
          <p:cNvSpPr>
            <a:spLocks noGrp="1"/>
          </p:cNvSpPr>
          <p:nvPr>
            <p:ph idx="1"/>
          </p:nvPr>
        </p:nvSpPr>
        <p:spPr/>
        <p:txBody>
          <a:bodyPr/>
          <a:lstStyle/>
          <a:p>
            <a:r>
              <a:rPr lang="en-US" dirty="0" smtClean="0"/>
              <a:t>Selected Model: Random Forest</a:t>
            </a:r>
          </a:p>
          <a:p>
            <a:pPr lvl="4"/>
            <a:r>
              <a:rPr lang="en-US" dirty="0" smtClean="0"/>
              <a:t>Provides stable and reliable performance</a:t>
            </a:r>
          </a:p>
          <a:p>
            <a:pPr lvl="4"/>
            <a:r>
              <a:rPr lang="en-US" dirty="0" smtClean="0"/>
              <a:t>Across different datasets </a:t>
            </a:r>
          </a:p>
          <a:p>
            <a:pPr lvl="4"/>
            <a:r>
              <a:rPr lang="en-US" dirty="0" smtClean="0"/>
              <a:t>Handles both numerical and categorical</a:t>
            </a:r>
          </a:p>
          <a:p>
            <a:pPr lvl="4"/>
            <a:r>
              <a:rPr lang="en-US" dirty="0" smtClean="0"/>
              <a:t>Features effectively</a:t>
            </a:r>
          </a:p>
          <a:p>
            <a:pPr lvl="4"/>
            <a:r>
              <a:rPr lang="en-US" dirty="0" smtClean="0"/>
              <a:t>Performs well without extensive parameter tuning</a:t>
            </a:r>
          </a:p>
          <a:p>
            <a:pPr lvl="4"/>
            <a:r>
              <a:rPr lang="en-US" dirty="0" smtClean="0"/>
              <a:t>Random Forest was selected as the final model due to its robustness, Consistency and ease of interpretation</a:t>
            </a:r>
          </a:p>
          <a:p>
            <a:pPr marL="1828800" lvl="4" indent="0">
              <a:buNone/>
            </a:pPr>
            <a:endParaRPr lang="en-US" dirty="0" smtClean="0"/>
          </a:p>
        </p:txBody>
      </p:sp>
    </p:spTree>
    <p:extLst>
      <p:ext uri="{BB962C8B-B14F-4D97-AF65-F5344CB8AC3E}">
        <p14:creationId xmlns:p14="http://schemas.microsoft.com/office/powerpoint/2010/main" val="4264252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Deployment</a:t>
            </a:r>
            <a:endParaRPr lang="en-IN" dirty="0"/>
          </a:p>
        </p:txBody>
      </p:sp>
      <p:sp>
        <p:nvSpPr>
          <p:cNvPr id="3" name="Content Placeholder 2"/>
          <p:cNvSpPr>
            <a:spLocks noGrp="1"/>
          </p:cNvSpPr>
          <p:nvPr>
            <p:ph idx="1"/>
          </p:nvPr>
        </p:nvSpPr>
        <p:spPr/>
        <p:txBody>
          <a:bodyPr/>
          <a:lstStyle/>
          <a:p>
            <a:r>
              <a:rPr lang="en-US" dirty="0" smtClean="0"/>
              <a:t>Deployed using </a:t>
            </a:r>
            <a:r>
              <a:rPr lang="en-US" dirty="0" err="1" smtClean="0"/>
              <a:t>streamlit</a:t>
            </a:r>
            <a:endParaRPr lang="en-US" dirty="0" smtClean="0"/>
          </a:p>
          <a:p>
            <a:r>
              <a:rPr lang="en-US" dirty="0" smtClean="0"/>
              <a:t>Build interactive UI</a:t>
            </a:r>
          </a:p>
          <a:p>
            <a:r>
              <a:rPr lang="en-US" dirty="0" smtClean="0"/>
              <a:t>User inputs employee details</a:t>
            </a:r>
          </a:p>
          <a:p>
            <a:r>
              <a:rPr lang="en-US" dirty="0" smtClean="0"/>
              <a:t>Model predicts retention</a:t>
            </a:r>
          </a:p>
          <a:p>
            <a:endParaRPr lang="en-IN" dirty="0"/>
          </a:p>
        </p:txBody>
      </p:sp>
    </p:spTree>
    <p:extLst>
      <p:ext uri="{BB962C8B-B14F-4D97-AF65-F5344CB8AC3E}">
        <p14:creationId xmlns:p14="http://schemas.microsoft.com/office/powerpoint/2010/main" val="101850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Key Insights</a:t>
            </a:r>
            <a:endParaRPr lang="en-IN" dirty="0"/>
          </a:p>
        </p:txBody>
      </p:sp>
      <p:sp>
        <p:nvSpPr>
          <p:cNvPr id="3" name="Content Placeholder 2"/>
          <p:cNvSpPr>
            <a:spLocks noGrp="1"/>
          </p:cNvSpPr>
          <p:nvPr>
            <p:ph idx="1"/>
          </p:nvPr>
        </p:nvSpPr>
        <p:spPr/>
        <p:txBody>
          <a:bodyPr/>
          <a:lstStyle/>
          <a:p>
            <a:r>
              <a:rPr lang="en-US" dirty="0" smtClean="0"/>
              <a:t>Low experience - higher attrition</a:t>
            </a:r>
          </a:p>
          <a:p>
            <a:r>
              <a:rPr lang="en-US" dirty="0" smtClean="0"/>
              <a:t>Low training hours - higher attrition</a:t>
            </a:r>
          </a:p>
          <a:p>
            <a:r>
              <a:rPr lang="en-US" dirty="0" smtClean="0"/>
              <a:t>Frequent job change - high risk</a:t>
            </a:r>
          </a:p>
          <a:p>
            <a:r>
              <a:rPr lang="en-US" dirty="0" smtClean="0"/>
              <a:t>Development index impact retention</a:t>
            </a:r>
            <a:endParaRPr lang="en-IN" dirty="0"/>
          </a:p>
        </p:txBody>
      </p:sp>
    </p:spTree>
    <p:extLst>
      <p:ext uri="{BB962C8B-B14F-4D97-AF65-F5344CB8AC3E}">
        <p14:creationId xmlns:p14="http://schemas.microsoft.com/office/powerpoint/2010/main" val="1399777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Conclusion</a:t>
            </a:r>
            <a:endParaRPr lang="en-IN" dirty="0"/>
          </a:p>
        </p:txBody>
      </p:sp>
      <p:sp>
        <p:nvSpPr>
          <p:cNvPr id="3" name="Content Placeholder 2"/>
          <p:cNvSpPr>
            <a:spLocks noGrp="1"/>
          </p:cNvSpPr>
          <p:nvPr>
            <p:ph idx="1"/>
          </p:nvPr>
        </p:nvSpPr>
        <p:spPr/>
        <p:txBody>
          <a:bodyPr/>
          <a:lstStyle/>
          <a:p>
            <a:r>
              <a:rPr lang="en-US" dirty="0" smtClean="0"/>
              <a:t>Build predictive model successfully</a:t>
            </a:r>
          </a:p>
          <a:p>
            <a:r>
              <a:rPr lang="en-US" dirty="0" smtClean="0"/>
              <a:t>Identify key retention factors</a:t>
            </a:r>
          </a:p>
          <a:p>
            <a:r>
              <a:rPr lang="en-US" dirty="0" smtClean="0"/>
              <a:t>Created deployable ML application</a:t>
            </a:r>
            <a:endParaRPr lang="en-IN" dirty="0"/>
          </a:p>
        </p:txBody>
      </p:sp>
    </p:spTree>
    <p:extLst>
      <p:ext uri="{BB962C8B-B14F-4D97-AF65-F5344CB8AC3E}">
        <p14:creationId xmlns:p14="http://schemas.microsoft.com/office/powerpoint/2010/main" val="1951333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7058</TotalTime>
  <Words>458</Words>
  <Application>Microsoft Office PowerPoint</Application>
  <PresentationFormat>Widescreen</PresentationFormat>
  <Paragraphs>112</Paragraphs>
  <Slides>18</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BIA Template</vt:lpstr>
      <vt:lpstr>PowerPoint Presentation</vt:lpstr>
      <vt:lpstr>Agenda</vt:lpstr>
      <vt:lpstr>Problem Statement</vt:lpstr>
      <vt:lpstr>Objective</vt:lpstr>
      <vt:lpstr>DataSet Overview </vt:lpstr>
      <vt:lpstr>Data Cleaning</vt:lpstr>
      <vt:lpstr>Feature Engineering</vt:lpstr>
      <vt:lpstr>EDA – Distribution of Training Hours</vt:lpstr>
      <vt:lpstr>EDA - Training vs Target</vt:lpstr>
      <vt:lpstr>EDA - Correlation Analysis</vt:lpstr>
      <vt:lpstr>EDA - City Development vs Training  </vt:lpstr>
      <vt:lpstr> Model Building</vt:lpstr>
      <vt:lpstr>Model Evaluation</vt:lpstr>
      <vt:lpstr>Final Model</vt:lpstr>
      <vt:lpstr>Deployment</vt:lpstr>
      <vt:lpstr>Key Insights</vt:lpstr>
      <vt:lpstr>Conclusion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Microsoft account</cp:lastModifiedBy>
  <cp:revision>2272</cp:revision>
  <dcterms:created xsi:type="dcterms:W3CDTF">2020-12-23T13:36:00Z</dcterms:created>
  <dcterms:modified xsi:type="dcterms:W3CDTF">2026-05-02T09:00:39Z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